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640080"/>
          <a:lstStyle/>
          <a:p>
            <a:pPr algn="ctr">
              <a:spcAft>
                <a:spcPts val="1200"/>
              </a:spcAft>
              <a:defRPr sz="1200" b="1">
                <a:solidFill>
                  <a:srgbClr val="06B6D4"/>
                </a:solidFill>
              </a:defRPr>
            </a:pPr>
            <a:r>
              <a:t>AI-POWERED ELECTORAL INTELLIGENCE &amp; GOVERNANCE</a:t>
            </a:r>
          </a:p>
          <a:p>
            <a:pPr>
              <a:spcAft>
                <a:spcPts val="800"/>
              </a:spcAft>
              <a:defRPr sz="4600" b="1">
                <a:solidFill>
                  <a:srgbClr val="FFFFFF"/>
                </a:solidFill>
              </a:defRPr>
            </a:pPr>
            <a:r>
              <a:t>Votex.ai</a:t>
            </a:r>
          </a:p>
          <a:p>
            <a:pPr>
              <a:spcAft>
                <a:spcPts val="3600"/>
              </a:spcAft>
              <a:defRPr sz="1600">
                <a:solidFill>
                  <a:srgbClr val="94A3B8"/>
                </a:solidFill>
              </a:defRPr>
            </a:pPr>
            <a:r>
              <a:t>Automated Online Voting Platform with Machine Learning Turnout Prediction, Autonomous Velocity Defense, and Cryptographic Ballot Secrecy</a:t>
            </a:r>
          </a:p>
          <a:p>
            <a:pPr>
              <a:spcAft>
                <a:spcPts val="2400"/>
              </a:spcAft>
              <a:defRPr sz="1300" b="1">
                <a:solidFill>
                  <a:srgbClr val="10B981"/>
                </a:solidFill>
              </a:defRPr>
            </a:pPr>
            <a:r>
              <a:t>Key Pillars: RandomForest Regression • IsolationForest Velocity Guard • Decoupled DB Schema • Interactive Console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Tech Stack: Python 3.10+ • Flask • MySQL (PyMySQL) • Scikit-Learn • Bootstrap 5 Glassmorphism •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PROBLEM STATEMENT &amp; MOTIVATION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The Electronic Voting Challenge &amp; Secrecy Paradox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Why conventional paper and legacy digital election systems fail modern democratic needs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56432" cy="42062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F59E0B"/>
                </a:solidFill>
              </a:defRPr>
            </a:pPr>
            <a:r>
              <a:t>Traditional Paper &amp; EVM Flaws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High fiscal &amp; logistical expenditure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Susceptible to physical ballot destruction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Severe inaccessibility for remote &amp; disabled voters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Closed-source DRE firmware audit vulnerabilities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Manual recount disputes and counting delays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2011680"/>
            <a:ext cx="3456432" cy="42062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06B6D4"/>
                </a:solidFill>
              </a:defRPr>
            </a:pPr>
            <a:r>
              <a:t>The Secrecy-Integrity Paradox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Authentication vs. Ballot Secrecy: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The system MUST verify voter eligibility conclusively.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The system MUST NEVER correlate identity to vote choice.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Naive foreign-key linking in databases leaves ballots exposed to DBA inspection &amp; SQL attacks.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0144" y="2011680"/>
            <a:ext cx="3456432" cy="42062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6366F1"/>
                </a:solidFill>
              </a:defRPr>
            </a:pPr>
            <a:r>
              <a:t>Modern Automated Cyber Threats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Digital Attack Vectors: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Automated botnet submission bursts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High-velocity credential stuffing &amp; replay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Targeted DDoS starving polling endpoints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Absence of real-time proactive telemetry in existing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SYSTEM DESIGN &amp; ARCHITECTURE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Modular Multi-Tier Platform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End-to-end separation of concerns ensuring scalability, modularity, and zero-knowledge secrecy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56432" cy="42062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06B6D4"/>
                </a:solidFill>
              </a:defRPr>
            </a:pPr>
            <a:r>
              <a:t>1. Presentation Tier (UI)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Interactive Admin Command Center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Single-page tabbed console with fadeIn transitions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High-contrast KPI metric cards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Responsive Student Voter Portal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Visual manifesto cards &amp; radio ballot selection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Cryptographic receipt modal with reference hash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Client-side Chart.js telemetry rendering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2011680"/>
            <a:ext cx="3456432" cy="42062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6366F1"/>
                </a:solidFill>
              </a:defRPr>
            </a:pPr>
            <a:r>
              <a:t>2. Intelligence &amp; App Tier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Python Flask Modular Blueprints: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/auth: Password hashing (PBKDF2/scrypt)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/voter: Ballot casting &amp; double-vote guard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/admin: Command console &amp; exports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Dual Scikit-Learn ML Engines: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RandomForest Turnout Predictor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IsolationForest Velocity Guard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Auto-model generation &amp; self-healing boot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0144" y="2011680"/>
            <a:ext cx="3456432" cy="42062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10B981"/>
                </a:solidFill>
              </a:defRPr>
            </a:pPr>
            <a:r>
              <a:t>3. Persistence &amp; Ledger Tier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MySQL 8.0 via PyMySQL / SQLAlchemy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Decoupled Relational Schema: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votes table has NO foreign key to users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Absolute cryptographic ballot secrecy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Tamper-Evident Audit Ledger: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Sequential block records (#001, #002...)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Timestamped tracking for forensic audits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Certified CSV exports (Results &amp; Audit)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ARTIFICIAL INTELLIGENCE SUBSYSTEMS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Dual Machine Learning Models for Turnout &amp; Security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Combining supervised ensemble regression with unsupervised anomaly isolation trees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MODEL A: Voter Turnout Predictor</a:t>
            </a:r>
          </a:p>
          <a:p>
            <a:pPr>
              <a:spcAft>
                <a:spcPts val="1200"/>
              </a:spcAft>
              <a:defRPr sz="1300" b="1">
                <a:solidFill>
                  <a:srgbClr val="FFFFFF"/>
                </a:solidFill>
              </a:defRPr>
            </a:pPr>
            <a:r>
              <a:t>Algorithm: RandomForestRegressor (100 Decision Trees)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Feature Vector: [Eligible Voters, Historical Turnout %, Candidate Competition Count, Ballot Window Hours, Prior Participation]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Mitigates non-linear interaction effects and avoids overfitting through bootstrap aggregation (bagging).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Real-time Expected Participation: Generates live dynamic benchmarks to detect low-participation anomalies early.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Auto-Training Hook: Automatically initializes &amp; trains model binary on server boot if missing.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800"/>
              </a:spcAft>
              <a:defRPr sz="1600" b="1">
                <a:solidFill>
                  <a:srgbClr val="6366F1"/>
                </a:solidFill>
              </a:defRPr>
            </a:pPr>
            <a:r>
              <a:t>MODEL B: Velocity Guard Anomaly Detector</a:t>
            </a:r>
          </a:p>
          <a:p>
            <a:pPr>
              <a:spcAft>
                <a:spcPts val="1200"/>
              </a:spcAft>
              <a:defRPr sz="1300" b="1">
                <a:solidFill>
                  <a:srgbClr val="FFFFFF"/>
                </a:solidFill>
              </a:defRPr>
            </a:pPr>
            <a:r>
              <a:t>Algorithm: IsolationForest (Unsupervised Tree Isolation)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Principle: Anomalies are "few and different", isolating with shorter path lengths h(x) &lt;&lt; c(n) near tree roots.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Sliding Window Telemetry: Audits submission velocity (vpm), unique IP ratios, and rapid submission bursts.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Zero Signature Requirement: Detects novel botnet stuffing attacks without needing prior training labels.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Diagnostic Burst Simulator: Allows live testing by injecting synthetic 28 vpm bursts to verify detector reaction.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SYSTEM FEATURES &amp; WORKFLOWS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Interactive Console &amp; Voter Experience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Designed for operational simplicity, complete transparency, and frictionless participation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56432" cy="42062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06B6D4"/>
                </a:solidFill>
              </a:defRPr>
            </a:pPr>
            <a:r>
              <a:t>Interactive Admin Console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Single-Page Tab Switching: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- 4 High-Contrast KPI Cards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Live Candidate Standings &amp; Bars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AI Turnout Forecast Chart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Velocity Guard Telemetry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Cryptographic Audit Ledger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URL Hash Deep-Linking (#standings)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Chart.js Auto-Resize Handler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Official CSV Report Exports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2011680"/>
            <a:ext cx="3456432" cy="42062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10B981"/>
                </a:solidFill>
              </a:defRPr>
            </a:pPr>
            <a:r>
              <a:t>Voter Experience &amp; Receipt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Clean, Modern Authentication: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Auto-whitespace trimming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Case-insensitive Voter ID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One-click demo test credentials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Frictionless Ballot Casting: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Candidate avatars &amp; manifestos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Interactive radio card selection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Sealed Confirmation Receipt: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Immutable cryptographic hash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Double-voting prevention guard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0144" y="2011680"/>
            <a:ext cx="3456432" cy="42062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F59E0B"/>
                </a:solidFill>
              </a:defRPr>
            </a:pPr>
            <a:r>
              <a:t>Live AI Burst Simulator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Built-In Operator Diagnostics: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Injects synthetic 28 votes/min burst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Evaluates Isolation Forest score live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Displays real-time threat alert banner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Highlights anomaly status badge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Proves Defensive Readiness: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- Demonstrates security capabilities live to evaluators without manual data tampering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VERIFICATION, IMPACT &amp; FUTURE ROADMAP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Empirical Verification &amp; Future Scope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Demonstrating production readiness, system integrity, and future technology horizons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56432" cy="42062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10B981"/>
                </a:solidFill>
              </a:defRPr>
            </a:pPr>
            <a:r>
              <a:t>Empirical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Test Suite Execution (100% Pass):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TC-01: Admin / Voter Auth (PASSED)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TC-02: Double-Voting Guard (PASSED)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TC-03: Tab Navigation Routing (PASSED)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TC-04: Real-Time Vote Tally (PASSED)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TC-05: AI Turnout Regression (PASSED)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TC-06: Velocity Anomaly Alert (PASSED)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TC-07: Results &amp; Audit CSVs (PASSED)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TC-08: Port 5001 Conflict Avoid (PASSED)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2011680"/>
            <a:ext cx="3456432" cy="42062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06B6D4"/>
                </a:solidFill>
              </a:defRPr>
            </a:pPr>
            <a:r>
              <a:t>Project Impact &amp; Value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Key Architectural Contributions: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Resolves the Secrecy-Integrity Paradox via schema decoupling.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Autonomous Anomaly Flagging eliminates reliance on post-hoc audits.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Predictive Telemetry empowers election commissions with real-time insight.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Enterprise-Grade UI makes complex cryptographic telemetry accessible.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0144" y="2011680"/>
            <a:ext cx="3456432" cy="42062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6366F1"/>
                </a:solidFill>
              </a:defRPr>
            </a:pPr>
            <a:r>
              <a:t>Future Research Roadmap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Next Technological Phases: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Phase 2: WebAuthn FIDO2 Biometrics (Apple FaceID / Android Biometrics)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Phase 3: Zero-Knowledge Proofs (zk-SNARKs mathematical ballot proofs)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Phase 4: Public Blockchain Anchoring (Ethereum L2 audit root anchoring)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Phase 5: Distributed Multi-Cloud Mesh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